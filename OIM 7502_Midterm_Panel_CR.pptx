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DM Sans" pitchFamily="2" charset="77"/>
      <p:regular r:id="rId6"/>
    </p:embeddedFont>
    <p:embeddedFont>
      <p:font typeface="DM Sans Bold" pitchFamily="2" charset="77"/>
      <p:regular r:id="rId7"/>
      <p:bold r:id="rId8"/>
    </p:embeddedFont>
    <p:embeddedFont>
      <p:font typeface="ITC Avant Garde Gothic" panose="020B0502020202020204" pitchFamily="34" charset="77"/>
      <p:regular r:id="rId9"/>
    </p:embeddedFont>
    <p:embeddedFont>
      <p:font typeface="TT Fors" panose="020B0003030001020000" pitchFamily="3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09" autoAdjust="0"/>
  </p:normalViewPr>
  <p:slideViewPr>
    <p:cSldViewPr>
      <p:cViewPr varScale="1">
        <p:scale>
          <a:sx n="74" d="100"/>
          <a:sy n="74" d="100"/>
        </p:scale>
        <p:origin x="62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91600" cy="10287000"/>
            <a:chOff x="0" y="0"/>
            <a:chExt cx="1035548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548" cy="1184737"/>
            </a:xfrm>
            <a:custGeom>
              <a:avLst/>
              <a:gdLst/>
              <a:ahLst/>
              <a:cxnLst/>
              <a:rect l="l" t="t" r="r" b="b"/>
              <a:pathLst>
                <a:path w="1035548" h="1184737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612933" y="4522456"/>
            <a:ext cx="8168344" cy="621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44"/>
              </a:lnSpc>
            </a:pPr>
            <a:r>
              <a:rPr lang="en-US" sz="3674">
                <a:solidFill>
                  <a:srgbClr val="1F7A72"/>
                </a:solidFill>
                <a:latin typeface="DM Sans"/>
                <a:ea typeface="DM Sans"/>
                <a:cs typeface="DM Sans"/>
                <a:sym typeface="DM Sans"/>
              </a:rPr>
              <a:t>Interactive 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86626" y="9398491"/>
            <a:ext cx="7194651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Cherprang Reanchaiyuth, OIM 7502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12933" y="3022589"/>
            <a:ext cx="8145697" cy="1566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99"/>
              </a:lnSpc>
            </a:pPr>
            <a:r>
              <a:rPr lang="en-US" sz="10299" spc="-308">
                <a:solidFill>
                  <a:srgbClr val="004A9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Panel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8005" y="923925"/>
            <a:ext cx="8145697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7A4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BABSON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1028700"/>
            <a:ext cx="11201400" cy="5839434"/>
            <a:chOff x="0" y="0"/>
            <a:chExt cx="14935200" cy="7785912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49352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004A9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</a:t>
              </a:r>
            </a:p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004A9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the Panel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78339"/>
              <a:ext cx="11099800" cy="30075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Panel is a powerful Python library designed for building interactive dashboards and applications, enabling seamless combination of widgets with data visualization, enhancing user engagement in data exploration.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581400"/>
              <a:ext cx="13017500" cy="66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59"/>
                </a:lnSpc>
                <a:spcBef>
                  <a:spcPct val="0"/>
                </a:spcBef>
              </a:pPr>
              <a:r>
                <a:rPr lang="en-US" sz="3299" u="none" strike="noStrike" spc="-98">
                  <a:solidFill>
                    <a:srgbClr val="007A4D"/>
                  </a:solidFill>
                  <a:latin typeface="TT Fors"/>
                  <a:ea typeface="TT Fors"/>
                  <a:cs typeface="TT Fors"/>
                  <a:sym typeface="TT Fors"/>
                </a:rPr>
                <a:t>Interactive Dashboard Library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62985" y="3950569"/>
            <a:ext cx="4162031" cy="3390443"/>
            <a:chOff x="0" y="0"/>
            <a:chExt cx="1096173" cy="8929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6173" cy="892956"/>
            </a:xfrm>
            <a:custGeom>
              <a:avLst/>
              <a:gdLst/>
              <a:ahLst/>
              <a:cxnLst/>
              <a:rect l="l" t="t" r="r" b="b"/>
              <a:pathLst>
                <a:path w="1096173" h="892956">
                  <a:moveTo>
                    <a:pt x="94867" y="0"/>
                  </a:moveTo>
                  <a:lnTo>
                    <a:pt x="1001306" y="0"/>
                  </a:lnTo>
                  <a:cubicBezTo>
                    <a:pt x="1026466" y="0"/>
                    <a:pt x="1050596" y="9995"/>
                    <a:pt x="1068387" y="27786"/>
                  </a:cubicBezTo>
                  <a:cubicBezTo>
                    <a:pt x="1086178" y="45577"/>
                    <a:pt x="1096173" y="69706"/>
                    <a:pt x="1096173" y="94867"/>
                  </a:cubicBezTo>
                  <a:lnTo>
                    <a:pt x="1096173" y="798090"/>
                  </a:lnTo>
                  <a:cubicBezTo>
                    <a:pt x="1096173" y="850483"/>
                    <a:pt x="1053699" y="892956"/>
                    <a:pt x="1001306" y="892956"/>
                  </a:cubicBezTo>
                  <a:lnTo>
                    <a:pt x="94867" y="892956"/>
                  </a:lnTo>
                  <a:cubicBezTo>
                    <a:pt x="42473" y="892956"/>
                    <a:pt x="0" y="850483"/>
                    <a:pt x="0" y="798090"/>
                  </a:cubicBezTo>
                  <a:lnTo>
                    <a:pt x="0" y="94867"/>
                  </a:lnTo>
                  <a:cubicBezTo>
                    <a:pt x="0" y="42473"/>
                    <a:pt x="42473" y="0"/>
                    <a:pt x="94867" y="0"/>
                  </a:cubicBezTo>
                  <a:close/>
                </a:path>
              </a:pathLst>
            </a:custGeom>
            <a:solidFill>
              <a:srgbClr val="E3EAE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096173" cy="9405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95038" y="3950569"/>
            <a:ext cx="4162031" cy="3390443"/>
            <a:chOff x="0" y="0"/>
            <a:chExt cx="1096173" cy="8929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6173" cy="892956"/>
            </a:xfrm>
            <a:custGeom>
              <a:avLst/>
              <a:gdLst/>
              <a:ahLst/>
              <a:cxnLst/>
              <a:rect l="l" t="t" r="r" b="b"/>
              <a:pathLst>
                <a:path w="1096173" h="892956">
                  <a:moveTo>
                    <a:pt x="94867" y="0"/>
                  </a:moveTo>
                  <a:lnTo>
                    <a:pt x="1001306" y="0"/>
                  </a:lnTo>
                  <a:cubicBezTo>
                    <a:pt x="1026466" y="0"/>
                    <a:pt x="1050596" y="9995"/>
                    <a:pt x="1068387" y="27786"/>
                  </a:cubicBezTo>
                  <a:cubicBezTo>
                    <a:pt x="1086178" y="45577"/>
                    <a:pt x="1096173" y="69706"/>
                    <a:pt x="1096173" y="94867"/>
                  </a:cubicBezTo>
                  <a:lnTo>
                    <a:pt x="1096173" y="798090"/>
                  </a:lnTo>
                  <a:cubicBezTo>
                    <a:pt x="1096173" y="850483"/>
                    <a:pt x="1053699" y="892956"/>
                    <a:pt x="1001306" y="892956"/>
                  </a:cubicBezTo>
                  <a:lnTo>
                    <a:pt x="94867" y="892956"/>
                  </a:lnTo>
                  <a:cubicBezTo>
                    <a:pt x="42473" y="892956"/>
                    <a:pt x="0" y="850483"/>
                    <a:pt x="0" y="798090"/>
                  </a:cubicBezTo>
                  <a:lnTo>
                    <a:pt x="0" y="94867"/>
                  </a:lnTo>
                  <a:cubicBezTo>
                    <a:pt x="0" y="42473"/>
                    <a:pt x="42473" y="0"/>
                    <a:pt x="94867" y="0"/>
                  </a:cubicBezTo>
                  <a:close/>
                </a:path>
              </a:pathLst>
            </a:custGeom>
            <a:solidFill>
              <a:srgbClr val="E3EAE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96173" cy="9405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682735" y="3950569"/>
            <a:ext cx="4162031" cy="3390443"/>
            <a:chOff x="0" y="0"/>
            <a:chExt cx="1096173" cy="8929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6173" cy="892956"/>
            </a:xfrm>
            <a:custGeom>
              <a:avLst/>
              <a:gdLst/>
              <a:ahLst/>
              <a:cxnLst/>
              <a:rect l="l" t="t" r="r" b="b"/>
              <a:pathLst>
                <a:path w="1096173" h="892956">
                  <a:moveTo>
                    <a:pt x="94867" y="0"/>
                  </a:moveTo>
                  <a:lnTo>
                    <a:pt x="1001306" y="0"/>
                  </a:lnTo>
                  <a:cubicBezTo>
                    <a:pt x="1026466" y="0"/>
                    <a:pt x="1050596" y="9995"/>
                    <a:pt x="1068387" y="27786"/>
                  </a:cubicBezTo>
                  <a:cubicBezTo>
                    <a:pt x="1086178" y="45577"/>
                    <a:pt x="1096173" y="69706"/>
                    <a:pt x="1096173" y="94867"/>
                  </a:cubicBezTo>
                  <a:lnTo>
                    <a:pt x="1096173" y="798090"/>
                  </a:lnTo>
                  <a:cubicBezTo>
                    <a:pt x="1096173" y="850483"/>
                    <a:pt x="1053699" y="892956"/>
                    <a:pt x="1001306" y="892956"/>
                  </a:cubicBezTo>
                  <a:lnTo>
                    <a:pt x="94867" y="892956"/>
                  </a:lnTo>
                  <a:cubicBezTo>
                    <a:pt x="42473" y="892956"/>
                    <a:pt x="0" y="850483"/>
                    <a:pt x="0" y="798090"/>
                  </a:cubicBezTo>
                  <a:lnTo>
                    <a:pt x="0" y="94867"/>
                  </a:lnTo>
                  <a:cubicBezTo>
                    <a:pt x="0" y="42473"/>
                    <a:pt x="42473" y="0"/>
                    <a:pt x="94867" y="0"/>
                  </a:cubicBezTo>
                  <a:close/>
                </a:path>
              </a:pathLst>
            </a:custGeom>
            <a:solidFill>
              <a:srgbClr val="E3EAE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096173" cy="9405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240814" y="7653115"/>
            <a:ext cx="1806372" cy="1326862"/>
          </a:xfrm>
          <a:custGeom>
            <a:avLst/>
            <a:gdLst/>
            <a:ahLst/>
            <a:cxnLst/>
            <a:rect l="l" t="t" r="r" b="b"/>
            <a:pathLst>
              <a:path w="1806372" h="1326862">
                <a:moveTo>
                  <a:pt x="0" y="0"/>
                </a:moveTo>
                <a:lnTo>
                  <a:pt x="1806372" y="0"/>
                </a:lnTo>
                <a:lnTo>
                  <a:pt x="1806372" y="1326862"/>
                </a:lnTo>
                <a:lnTo>
                  <a:pt x="0" y="1326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2574130" y="7341012"/>
            <a:ext cx="2051052" cy="1917288"/>
          </a:xfrm>
          <a:custGeom>
            <a:avLst/>
            <a:gdLst/>
            <a:ahLst/>
            <a:cxnLst/>
            <a:rect l="l" t="t" r="r" b="b"/>
            <a:pathLst>
              <a:path w="2051052" h="1917288">
                <a:moveTo>
                  <a:pt x="0" y="0"/>
                </a:moveTo>
                <a:lnTo>
                  <a:pt x="2051052" y="0"/>
                </a:lnTo>
                <a:lnTo>
                  <a:pt x="2051052" y="1917288"/>
                </a:lnTo>
                <a:lnTo>
                  <a:pt x="0" y="1917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3763027" y="7529869"/>
            <a:ext cx="2001446" cy="1539574"/>
          </a:xfrm>
          <a:custGeom>
            <a:avLst/>
            <a:gdLst/>
            <a:ahLst/>
            <a:cxnLst/>
            <a:rect l="l" t="t" r="r" b="b"/>
            <a:pathLst>
              <a:path w="2001446" h="1539574">
                <a:moveTo>
                  <a:pt x="0" y="0"/>
                </a:moveTo>
                <a:lnTo>
                  <a:pt x="2001446" y="0"/>
                </a:lnTo>
                <a:lnTo>
                  <a:pt x="2001446" y="1539574"/>
                </a:lnTo>
                <a:lnTo>
                  <a:pt x="0" y="15395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660964" y="4250913"/>
            <a:ext cx="2966072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49"/>
              </a:lnSpc>
            </a:pPr>
            <a:r>
              <a:rPr lang="en-US" sz="22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Seamlessly connects data, visuals, and controls to create a unified, interactive dashboard experience.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6588" y="2898363"/>
            <a:ext cx="4314825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9"/>
              </a:lnSpc>
            </a:pPr>
            <a:r>
              <a:rPr lang="en-US" sz="2700" b="1">
                <a:solidFill>
                  <a:srgbClr val="1F7A72"/>
                </a:solidFill>
                <a:latin typeface="DM Sans Bold"/>
                <a:ea typeface="DM Sans Bold"/>
                <a:cs typeface="DM Sans Bold"/>
                <a:sym typeface="DM Sans Bold"/>
              </a:rPr>
              <a:t>CONNECT DATA AND VISUALS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32467" y="4250913"/>
            <a:ext cx="2887173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49"/>
              </a:lnSpc>
            </a:pPr>
            <a:r>
              <a:rPr lang="en-US" sz="22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Enables intuitive interactivity, helping users explore data and uncover insights through easy-to-use controls and visuals.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42244" y="2898363"/>
            <a:ext cx="4314825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9"/>
              </a:lnSpc>
            </a:pPr>
            <a:r>
              <a:rPr lang="en-US" sz="2700" b="1">
                <a:solidFill>
                  <a:srgbClr val="1F7A72"/>
                </a:solidFill>
                <a:latin typeface="DM Sans Bold"/>
                <a:ea typeface="DM Sans Bold"/>
                <a:cs typeface="DM Sans Bold"/>
                <a:sym typeface="DM Sans Bold"/>
              </a:rPr>
              <a:t>SIMPLIFY DATA EXPLORATION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48119" y="4250913"/>
            <a:ext cx="3231262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49"/>
              </a:lnSpc>
            </a:pPr>
            <a:r>
              <a:rPr lang="en-US" sz="22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Enables quick creation of interactive dashboards, reducing development time while delivering high-quality visuals.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06338" y="2898363"/>
            <a:ext cx="4314825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9"/>
              </a:lnSpc>
            </a:pPr>
            <a:r>
              <a:rPr lang="en-US" sz="2700" b="1">
                <a:solidFill>
                  <a:srgbClr val="1F7A72"/>
                </a:solidFill>
                <a:latin typeface="DM Sans Bold"/>
                <a:ea typeface="DM Sans Bold"/>
                <a:cs typeface="DM Sans Bold"/>
                <a:sym typeface="DM Sans Bold"/>
              </a:rPr>
              <a:t>RAPID DASHBOARD DEVELOPMENT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1019175"/>
            <a:ext cx="11201400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004A9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Objectives of Panel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49871" y="993555"/>
            <a:ext cx="8324850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004A9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My Dashboard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49871" y="3681095"/>
            <a:ext cx="832485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59"/>
              </a:lnSpc>
              <a:spcBef>
                <a:spcPct val="0"/>
              </a:spcBef>
            </a:pPr>
            <a:r>
              <a:rPr lang="en-US" sz="3299" u="none" strike="noStrike" spc="-98">
                <a:solidFill>
                  <a:srgbClr val="007A4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Exploring Wage Insights with Panel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88152" y="4507694"/>
            <a:ext cx="7223230" cy="321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U</a:t>
            </a:r>
            <a:r>
              <a:rPr lang="en-US" sz="2499" u="none" strike="noStrike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tilizes the Wage.csv dataset to analyze how education, job class, and age impact wages.</a:t>
            </a:r>
          </a:p>
          <a:p>
            <a:pPr marL="107950" lvl="1" indent="-53975" algn="l">
              <a:lnSpc>
                <a:spcPts val="700"/>
              </a:lnSpc>
              <a:spcBef>
                <a:spcPct val="0"/>
              </a:spcBef>
              <a:buFont typeface="Arial"/>
              <a:buChar char="•"/>
            </a:pPr>
            <a:endParaRPr lang="en-US" sz="2499" u="none" strike="noStrike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Interactive filters allow users to explore metrics like average and median wage.</a:t>
            </a:r>
          </a:p>
          <a:p>
            <a:pPr algn="l">
              <a:lnSpc>
                <a:spcPts val="700"/>
              </a:lnSpc>
              <a:spcBef>
                <a:spcPct val="0"/>
              </a:spcBef>
            </a:pPr>
            <a:endParaRPr lang="en-US" sz="2499" u="none" strike="noStrike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Visuals update automatically for a smooth data exploration experience.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endParaRPr lang="en-US" sz="2499" u="none" strike="noStrike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239431" y="0"/>
            <a:ext cx="8048569" cy="10287000"/>
            <a:chOff x="0" y="0"/>
            <a:chExt cx="1246934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6934" cy="1593725"/>
            </a:xfrm>
            <a:custGeom>
              <a:avLst/>
              <a:gdLst/>
              <a:ahLst/>
              <a:cxnLst/>
              <a:rect l="l" t="t" r="r" b="b"/>
              <a:pathLst>
                <a:path w="1246934" h="1593725">
                  <a:moveTo>
                    <a:pt x="0" y="0"/>
                  </a:moveTo>
                  <a:lnTo>
                    <a:pt x="1246934" y="0"/>
                  </a:lnTo>
                  <a:lnTo>
                    <a:pt x="12469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2843" b="-1284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159</Words>
  <Application>Microsoft Macintosh PowerPoint</Application>
  <PresentationFormat>Custom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ITC Avant Garde Gothic</vt:lpstr>
      <vt:lpstr>TT Fors</vt:lpstr>
      <vt:lpstr>Arial</vt:lpstr>
      <vt:lpstr>DM Sans</vt:lpstr>
      <vt:lpstr>DM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Panel Project</dc:title>
  <dc:description>Presentation - Panel Project</dc:description>
  <cp:lastModifiedBy>Cherprang Reanchaiyuth (She/Her)</cp:lastModifiedBy>
  <cp:revision>1</cp:revision>
  <dcterms:created xsi:type="dcterms:W3CDTF">2006-08-16T00:00:00Z</dcterms:created>
  <dcterms:modified xsi:type="dcterms:W3CDTF">2025-11-02T01:43:25Z</dcterms:modified>
  <dc:identifier>DAG3gC-bUkI</dc:identifier>
</cp:coreProperties>
</file>